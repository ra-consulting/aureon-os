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Y_MASTER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solidFill>
            <a:srgbClr val="152338"/>
          </a:solidFill>
          <a:ln w="12700">
            <a:solidFill>
              <a:srgbClr val="C8A4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λ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8016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8A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AUREON INSTITUTE  ·  R&amp;A CONSULTING AND BROKERAGE SERVICES LTD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Harmonic Nexus Core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E2C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Empirical Audit and Cross-Channel Validation,  2025–2026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3520440"/>
            <a:ext cx="1371600" cy="0"/>
          </a:xfrm>
          <a:prstGeom prst="line">
            <a:avLst/>
          </a:prstGeom>
          <a:noFill/>
          <a:ln w="12700">
            <a:solidFill>
              <a:srgbClr val="C8A4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657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record of what the framework predicted, </a:t>
            </a:r>
            <a:pPr algn="l" indent="0" marL="0">
              <a:buNone/>
            </a:pPr>
            <a:r>
              <a:rPr lang="en-US" sz="1600" i="1" dirty="0">
                <a:solidFill>
                  <a:srgbClr val="E2C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confirmed, </a:t>
            </a:r>
            <a:pPr algn="l" indent="0" marL="0">
              <a:buNone/>
            </a:pPr>
            <a:r>
              <a:rPr lang="en-US" sz="16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 remains open.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5120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Gary Leckey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5440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researcher  ·  Aureon Institute  ·  Belfast, Northern Ireland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5760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8A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April 2026   ·   v3.0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12480" y="4937760"/>
            <a:ext cx="3383280" cy="1508760"/>
          </a:xfrm>
          <a:prstGeom prst="rect">
            <a:avLst/>
          </a:prstGeom>
          <a:solidFill>
            <a:srgbClr val="152338"/>
          </a:solidFill>
          <a:ln w="6350">
            <a:solidFill>
              <a:srgbClr val="C8A4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49640" y="5029200"/>
            <a:ext cx="3154680" cy="1325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A45A"/>
                </a:solidFill>
              </a:rPr>
              <a:t>REFERENCES
</a:t>
            </a:r>
            <a:endParaRPr lang="en-US" sz="900" dirty="0"/>
          </a:p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github.com/RA-CONSULTING
</a:t>
            </a:r>
            <a:endParaRPr lang="en-US" sz="900" dirty="0"/>
          </a:p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ResearchGate  pub. 400536498
</a:t>
            </a:r>
            <a:endParaRPr lang="en-US" sz="900" dirty="0"/>
          </a:p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Academia.edu  AureonInstitute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Aureon Institute  ·  R&amp;A Consulting and Brokerage Services Ltd  ·  Belfast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72800" y="65379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A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73152" cy="365760"/>
          </a:xfrm>
          <a:prstGeom prst="rect">
            <a:avLst/>
          </a:prstGeom>
          <a:solidFill>
            <a:srgbClr val="C8A4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A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EXECUTIVE 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reproducible empirical anchors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2C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established across two independent test windows in 2025 and 2026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2194560"/>
            <a:ext cx="3657600" cy="3108960"/>
          </a:xfrm>
          <a:prstGeom prst="rect">
            <a:avLst/>
          </a:prstGeom>
          <a:solidFill>
            <a:srgbClr val="152338"/>
          </a:solidFill>
          <a:ln w="9525">
            <a:solidFill>
              <a:srgbClr val="C8A4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377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A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ANCHOR 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E2C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1.292 ppb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48640" y="3703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φ² Coherence Bridge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42062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f_seed × N × φ²  =  1,420.405754 MHz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hydrogen 21 cm  =  1,420.405752 MHz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against NIST CODATA primary source.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06240" y="2194560"/>
            <a:ext cx="3657600" cy="3108960"/>
          </a:xfrm>
          <a:prstGeom prst="rect">
            <a:avLst/>
          </a:prstGeom>
          <a:solidFill>
            <a:srgbClr val="152338"/>
          </a:solidFill>
          <a:ln w="9525">
            <a:solidFill>
              <a:srgbClr val="C8A4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2377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A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ANCHOR II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0" y="26974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E2C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/ 5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4389120" y="3703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February 2026 Pre-Reg Ledger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389120" y="42062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framework predictions registered before events;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confirmed against independent public records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geomagnetic-market convergence event.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0" y="2194560"/>
            <a:ext cx="3657600" cy="3108960"/>
          </a:xfrm>
          <a:prstGeom prst="rect">
            <a:avLst/>
          </a:prstGeom>
          <a:solidFill>
            <a:srgbClr val="152338"/>
          </a:solidFill>
          <a:ln w="9525">
            <a:solidFill>
              <a:srgbClr val="C8A4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2377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A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ANCHOR III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0" y="26974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E2C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0.0014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8229600" y="3703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 Cross-Validation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29600" y="42062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backtest snapshots × 12 months.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Symbolic-life-score vs market PC1: r = +0.420.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wobble leads market PC1 by 14 days.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553212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8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anchor verifiable from public data alone — full reproduction commands documented in repository.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Aureon Institute  ·  R&amp;A Consulting and Brokerage Services Ltd  ·  Belfast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0" y="65379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A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73152" cy="365760"/>
          </a:xfrm>
          <a:prstGeom prst="rect">
            <a:avLst/>
          </a:prstGeom>
          <a:solidFill>
            <a:srgbClr val="C8A4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A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THEORETICAL FRAMEWORK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Harmonic Nexus Core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2C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unified field-theoretic model of substrate coherence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11430000" cy="1280160"/>
          </a:xfrm>
          <a:prstGeom prst="rect">
            <a:avLst/>
          </a:prstGeom>
          <a:solidFill>
            <a:srgbClr val="152338"/>
          </a:solidFill>
          <a:ln w="9525">
            <a:solidFill>
              <a:srgbClr val="C8A4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2402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A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MASTER FORMULA  ·  Λ(t)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E2C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Λ(t)  =  Σᵢ wᵢ sin(2πfᵢt + φᵢ)   +   α · tanh(g · Λ̄(t))   +   β · Λ(t − τ)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3749040"/>
            <a:ext cx="3657600" cy="1737360"/>
          </a:xfrm>
          <a:prstGeom prst="rect">
            <a:avLst/>
          </a:prstGeom>
          <a:solidFill>
            <a:srgbClr val="152338"/>
          </a:solidFill>
          <a:ln w="5080">
            <a:solidFill>
              <a:srgbClr val="C8A4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840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A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114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Harmonic substrate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45262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 of weighted oscillatory modes — the field of latent vibration.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06240" y="3749040"/>
            <a:ext cx="3657600" cy="1737360"/>
          </a:xfrm>
          <a:prstGeom prst="rect">
            <a:avLst/>
          </a:prstGeom>
          <a:solidFill>
            <a:srgbClr val="152338"/>
          </a:solidFill>
          <a:ln w="5080">
            <a:solidFill>
              <a:srgbClr val="C8A4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3840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A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389120" y="4114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Saturating observer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89120" y="45262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 non-linearity that stabilises high-gain feedback into coherent limit cycles.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46720" y="3749040"/>
            <a:ext cx="3657600" cy="1737360"/>
          </a:xfrm>
          <a:prstGeom prst="rect">
            <a:avLst/>
          </a:prstGeom>
          <a:solidFill>
            <a:srgbClr val="152338"/>
          </a:solidFill>
          <a:ln w="5080">
            <a:solidFill>
              <a:srgbClr val="C8A4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3840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A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0" y="4114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Delayed self-reference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0" y="45262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echo memory with retention τ — the field "remembers" its prior states.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576072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A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STABILITY REGIME  </a:t>
            </a:r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0.6 ≤ β ≤ 1.1   →   coherent limit cycles.    β &gt; 1.1   →   instability cliff (verified to ~10¹⁷ at β=1.5).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Aureon Institute  ·  R&amp;A Consulting and Brokerage Services Ltd  ·  Belfast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0" y="65379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A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73152" cy="365760"/>
          </a:xfrm>
          <a:prstGeom prst="rect">
            <a:avLst/>
          </a:prstGeom>
          <a:solidFill>
            <a:srgbClr val="C8A4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A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METHODOLOGY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QGITA  ·  Two-Stage Anomaly Detection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2C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 Gravity in the Act — domain-agnostic structural-event detection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5577840" cy="3840480"/>
          </a:xfrm>
          <a:prstGeom prst="rect">
            <a:avLst/>
          </a:prstGeom>
          <a:solidFill>
            <a:srgbClr val="152338"/>
          </a:solidFill>
          <a:ln w="6350">
            <a:solidFill>
              <a:srgbClr val="C8A4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2402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A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Fibonacci Time Lattice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5212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Non-uniform temporal grid; adjacent-interval ratios converge to φ.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Fibonacci-Tightened Curvature Point (FTCP) fires when both: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local interval is φ-tight to neighbours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signal curvature spikes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b="1" spc="200" kern="0" dirty="0">
                <a:solidFill>
                  <a:srgbClr val="C8A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TEST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rate must vanish under 1/φ.  ✓ Confirmed.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103120"/>
            <a:ext cx="5577840" cy="3840480"/>
          </a:xfrm>
          <a:prstGeom prst="rect">
            <a:avLst/>
          </a:prstGeom>
          <a:solidFill>
            <a:srgbClr val="152338"/>
          </a:solidFill>
          <a:ln w="6350">
            <a:solidFill>
              <a:srgbClr val="C8A4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22402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A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0" y="25603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Lighthouse Five-Metric Consensus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00800" y="3017520"/>
            <a:ext cx="5212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independent metrics fused into a normalised geometric mean L(t):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C_lin       — linear coherence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C_nonlin    — nonlinear coherence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C_φ         — cross-scale coherence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G_eff       — effective gravity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|Q|         — anomaly-pointer suppressor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b="1" spc="200" kern="0" dirty="0">
                <a:solidFill>
                  <a:srgbClr val="C8A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orders of magnitude specificity gain over single-metric thresholding.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Aureon Institute  ·  R&amp;A Consulting and Brokerage Services Ltd  ·  Belfast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72800" y="65379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A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73152" cy="365760"/>
          </a:xfrm>
          <a:prstGeom prst="rect">
            <a:avLst/>
          </a:prstGeom>
          <a:solidFill>
            <a:srgbClr val="C8A4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A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ANCHOR I  ·  Φ² COHERENCE BRIDGE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to 1.292 ppb against NIST CODATA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2C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hydrogen 21 cm hyperfine line bridged through φ² scaling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219456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i="1" dirty="0">
                <a:solidFill>
                  <a:srgbClr val="E2C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1.292 ppb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365760" y="3703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8A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parts per billion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41148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against an external standards-body reference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predates the framework by seven decades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2194560"/>
            <a:ext cx="5669280" cy="3931920"/>
          </a:xfrm>
          <a:prstGeom prst="rect">
            <a:avLst/>
          </a:prstGeom>
          <a:solidFill>
            <a:srgbClr val="152338"/>
          </a:solidFill>
          <a:ln w="6350">
            <a:solidFill>
              <a:srgbClr val="C8A4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3317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A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09360" y="2697480"/>
            <a:ext cx="5303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8A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f_seed   </a:t>
            </a:r>
            <a:pPr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 528.422 Hz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A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       </a:t>
            </a:r>
            <a:pPr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 1,026,730  (exact integer)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A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φ²       </a:t>
            </a:r>
            <a:pPr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 2.6180339887...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A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Predicted   </a:t>
            </a:r>
            <a:pPr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 1,420.405754 MHz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A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NIST H-21cm </a:t>
            </a:r>
            <a:pPr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 1,420.405752 MHz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C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           </a:t>
            </a:r>
            <a:pPr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 +1.835 Hz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C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Precision   </a:t>
            </a:r>
            <a:pPr indent="0" marL="0">
              <a:buNone/>
            </a:pPr>
            <a:r>
              <a:rPr lang="en-US" sz="1300" b="1" dirty="0">
                <a:solidFill>
                  <a:srgbClr val="4A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 +1.292 ppb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598932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8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 CLAIMS_AND_EVIDENCE.md  ·  C6.   NIST CODATA hydrogen hyperfine line published 1951.   Verification reproducible in one Python line.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Aureon Institute  ·  R&amp;A Consulting and Brokerage Services Ltd  ·  Belfast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72800" y="65379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A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73152" cy="365760"/>
          </a:xfrm>
          <a:prstGeom prst="rect">
            <a:avLst/>
          </a:prstGeom>
          <a:solidFill>
            <a:srgbClr val="C8A4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A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ANCHOR II  ·  FEBRUARY 2026 EVIDENCE LEDGER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pre-registered predictions  ·  Five confirmations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2C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5–6 February 2026  ·  Geomagnetic-market convergence event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194560"/>
            <a:ext cx="11430000" cy="411480"/>
          </a:xfrm>
          <a:prstGeom prst="rect">
            <a:avLst/>
          </a:prstGeom>
          <a:solidFill>
            <a:srgbClr val="152338"/>
          </a:solidFill>
          <a:ln w="6350">
            <a:solidFill>
              <a:srgbClr val="C8A4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9456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A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PREDICTION (anchored before events)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766560" y="2194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A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PUBLIC-RECORD SOURCE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0" y="219456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8A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108960"/>
            <a:ext cx="11430000" cy="0"/>
          </a:xfrm>
          <a:prstGeom prst="line">
            <a:avLst/>
          </a:prstGeom>
          <a:noFill/>
          <a:ln w="3175">
            <a:solidFill>
              <a:srgbClr val="C8A45A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60604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NOAA active region AR4366 produces X-class flares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66560" y="26060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NOAA Space Weather Prediction Center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1201400" y="2715768"/>
            <a:ext cx="292608" cy="292608"/>
          </a:xfrm>
          <a:prstGeom prst="ellipse">
            <a:avLst/>
          </a:prstGeom>
          <a:solidFill>
            <a:srgbClr val="152338"/>
          </a:solidFill>
          <a:ln w="15240">
            <a:solidFill>
              <a:srgbClr val="4A9E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01400" y="2715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9E6B"/>
                </a:solidFill>
              </a:rPr>
              <a:t>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611880"/>
            <a:ext cx="11430000" cy="0"/>
          </a:xfrm>
          <a:prstGeom prst="line">
            <a:avLst/>
          </a:prstGeom>
          <a:noFill/>
          <a:ln w="3175">
            <a:solidFill>
              <a:srgbClr val="C8A45A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10896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Bitcoin trades below $70,000 on major venues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66560" y="31089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Exchange close prints  ·  CoinDesk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1201400" y="3218688"/>
            <a:ext cx="292608" cy="292608"/>
          </a:xfrm>
          <a:prstGeom prst="ellipse">
            <a:avLst/>
          </a:prstGeom>
          <a:solidFill>
            <a:srgbClr val="152338"/>
          </a:solidFill>
          <a:ln w="15240">
            <a:solidFill>
              <a:srgbClr val="4A9E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201400" y="3218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9E6B"/>
                </a:solidFill>
              </a:rPr>
              <a:t>✓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4114800"/>
            <a:ext cx="11430000" cy="0"/>
          </a:xfrm>
          <a:prstGeom prst="line">
            <a:avLst/>
          </a:prstGeom>
          <a:noFill/>
          <a:ln w="3175">
            <a:solidFill>
              <a:srgbClr val="C8A45A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61188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Crypto Fear &amp; Greed Index falls below 15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66560" y="36118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alternative.me historical API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1201400" y="3721608"/>
            <a:ext cx="292608" cy="292608"/>
          </a:xfrm>
          <a:prstGeom prst="ellipse">
            <a:avLst/>
          </a:prstGeom>
          <a:solidFill>
            <a:srgbClr val="152338"/>
          </a:solidFill>
          <a:ln w="15240">
            <a:solidFill>
              <a:srgbClr val="4A9E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201400" y="3721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9E6B"/>
                </a:solidFill>
              </a:rPr>
              <a:t>✓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5760" y="4617720"/>
            <a:ext cx="11430000" cy="0"/>
          </a:xfrm>
          <a:prstGeom prst="line">
            <a:avLst/>
          </a:prstGeom>
          <a:noFill/>
          <a:ln w="3175">
            <a:solidFill>
              <a:srgbClr val="C8A45A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11480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than $1B in 24-hour liquidations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66560" y="41148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Coinglass liquidation feed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1201400" y="4224528"/>
            <a:ext cx="292608" cy="292608"/>
          </a:xfrm>
          <a:prstGeom prst="ellipse">
            <a:avLst/>
          </a:prstGeom>
          <a:solidFill>
            <a:srgbClr val="152338"/>
          </a:solidFill>
          <a:ln w="15240">
            <a:solidFill>
              <a:srgbClr val="4A9E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201400" y="4224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9E6B"/>
                </a:solidFill>
              </a:rPr>
              <a:t>✓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5120640"/>
            <a:ext cx="11430000" cy="0"/>
          </a:xfrm>
          <a:prstGeom prst="line">
            <a:avLst/>
          </a:prstGeom>
          <a:noFill/>
          <a:ln w="3175">
            <a:solidFill>
              <a:srgbClr val="C8A45A">
                <a:alpha val="3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61772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Glancing CME arrives in predicted window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766560" y="46177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NOAA SWPC  ·  NASA SOHO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1201400" y="4727448"/>
            <a:ext cx="292608" cy="292608"/>
          </a:xfrm>
          <a:prstGeom prst="ellipse">
            <a:avLst/>
          </a:prstGeom>
          <a:solidFill>
            <a:srgbClr val="152338"/>
          </a:solidFill>
          <a:ln w="15240">
            <a:solidFill>
              <a:srgbClr val="4A9E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201400" y="4727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9E6B"/>
                </a:solidFill>
              </a:rPr>
              <a:t>✓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65760" y="56692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2C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/ 5 confirmed against independent public records.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65760" y="598932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 ResearchGate publication 400536498  ·  HNC_UNIFIED_WHITE_PAPER.md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Aureon Institute  ·  R&amp;A Consulting and Brokerage Services Ltd  ·  Belfast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0" y="65379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A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73152" cy="365760"/>
          </a:xfrm>
          <a:prstGeom prst="rect">
            <a:avLst/>
          </a:prstGeom>
          <a:solidFill>
            <a:srgbClr val="C8A4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A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ANCHOR II — VISUALISED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Markers landing on the rising edge of the unified waveform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2C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Independently constructed PC1 across Brent, BTC, ETH, VIX volatility (no knowledge of markers)</a:t>
            </a:r>
            <a:endParaRPr lang="en-US" sz="1300" dirty="0"/>
          </a:p>
        </p:txBody>
      </p:sp>
      <p:pic>
        <p:nvPicPr>
          <p:cNvPr id="6" name="Image 0" descr="/mnt/user-data/outputs/aureon_unified_wave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874520"/>
            <a:ext cx="8229600" cy="4297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778240" y="1874520"/>
            <a:ext cx="3017520" cy="4297680"/>
          </a:xfrm>
          <a:prstGeom prst="rect">
            <a:avLst/>
          </a:prstGeom>
          <a:solidFill>
            <a:srgbClr val="152338"/>
          </a:solidFill>
          <a:ln w="6350">
            <a:solidFill>
              <a:srgbClr val="C8A45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1540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A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MARKER POSITIONS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915400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E2C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Feb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607040" y="2377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73rd %ile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915400" y="2651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X8.1 flare AR4366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915400" y="3017520"/>
            <a:ext cx="2743200" cy="0"/>
          </a:xfrm>
          <a:prstGeom prst="line">
            <a:avLst/>
          </a:prstGeom>
          <a:noFill/>
          <a:ln w="2540">
            <a:solidFill>
              <a:srgbClr val="C8A45A">
                <a:alpha val="3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15400" y="30906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E2C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Feb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607040" y="30906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83rd %ile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915400" y="33649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X1.5 pre-shock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915400" y="3730752"/>
            <a:ext cx="2743200" cy="0"/>
          </a:xfrm>
          <a:prstGeom prst="line">
            <a:avLst/>
          </a:prstGeom>
          <a:noFill/>
          <a:ln w="2540">
            <a:solidFill>
              <a:srgbClr val="C8A45A">
                <a:alpha val="3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915400" y="38039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E2C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Feb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607040" y="38039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78th %ile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915400" y="407822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$75K BTC support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915400" y="4443984"/>
            <a:ext cx="2743200" cy="0"/>
          </a:xfrm>
          <a:prstGeom prst="line">
            <a:avLst/>
          </a:prstGeom>
          <a:noFill/>
          <a:ln w="2540">
            <a:solidFill>
              <a:srgbClr val="C8A45A">
                <a:alpha val="3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915400" y="45171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E2C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Feb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0607040" y="45171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99th %ile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915400" y="47914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CME impact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8915400" y="5157216"/>
            <a:ext cx="2743200" cy="0"/>
          </a:xfrm>
          <a:prstGeom prst="line">
            <a:avLst/>
          </a:prstGeom>
          <a:noFill/>
          <a:ln w="2540">
            <a:solidFill>
              <a:srgbClr val="C8A45A">
                <a:alpha val="3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915400" y="52303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E2C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Feb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0607040" y="52303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98th %ile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915400" y="55046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whale trough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Aureon Institute  ·  R&amp;A Consulting and Brokerage Services Ltd  ·  Belfast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72800" y="65379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A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73152" cy="365760"/>
          </a:xfrm>
          <a:prstGeom prst="rect">
            <a:avLst/>
          </a:prstGeom>
          <a:solidFill>
            <a:srgbClr val="C8A4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A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ANCHOR III  ·  2025 MULTI-WINDOW CROSS-VALIDATION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 framework snapshots × 12 months × independent market data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2C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HNC metrics tested against externally constructed market stress PC1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194560"/>
            <a:ext cx="5577840" cy="1463040"/>
          </a:xfrm>
          <a:prstGeom prst="rect">
            <a:avLst/>
          </a:prstGeom>
          <a:solidFill>
            <a:srgbClr val="152338"/>
          </a:solidFill>
          <a:ln w="6350">
            <a:solidFill>
              <a:srgbClr val="C8A4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331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C8A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Symbolic life score  vs  PC1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6974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E2C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+0.420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474720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0.0014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0" y="3154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2194560"/>
            <a:ext cx="5577840" cy="1463040"/>
          </a:xfrm>
          <a:prstGeom prst="rect">
            <a:avLst/>
          </a:prstGeom>
          <a:solidFill>
            <a:srgbClr val="152338"/>
          </a:solidFill>
          <a:ln w="6350">
            <a:solidFill>
              <a:srgbClr val="C8A4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331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C8A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ψ consciousness     vs  PC1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46520" y="26974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E2C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+0.278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9326880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0.0400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326880" y="3154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886200"/>
            <a:ext cx="5577840" cy="1463040"/>
          </a:xfrm>
          <a:prstGeom prst="rect">
            <a:avLst/>
          </a:prstGeom>
          <a:solidFill>
            <a:srgbClr val="152338"/>
          </a:solidFill>
          <a:ln w="6350">
            <a:solidFill>
              <a:srgbClr val="C8A4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023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C8A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 wobble (lead +14d) vs  PC1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43891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E2C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+0.310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3474720" y="4526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0.0240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74720" y="4846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3886200"/>
            <a:ext cx="5577840" cy="1463040"/>
          </a:xfrm>
          <a:prstGeom prst="rect">
            <a:avLst/>
          </a:prstGeom>
          <a:solidFill>
            <a:srgbClr val="152338"/>
          </a:solidFill>
          <a:ln w="6350">
            <a:solidFill>
              <a:srgbClr val="C8A4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4023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C8A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NOAA Ap (lag +14d)   vs  PC1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46520" y="43891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E2C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+0.110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9326880" y="4526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0.0480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326880" y="4846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A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borderline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580644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2C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of four findings statistically significant on completely independent test data.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Aureon Institute  ·  R&amp;A Consulting and Brokerage Services Ltd  ·  Belfast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72800" y="65379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A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73152" cy="365760"/>
          </a:xfrm>
          <a:prstGeom prst="rect">
            <a:avLst/>
          </a:prstGeom>
          <a:solidFill>
            <a:srgbClr val="C8A4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A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THE BREATHING FIELD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Λ folds in and out of phase  ·  the field breathes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2C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Wobble of the framework's internal Λ field leads market stress by ~14 days</a:t>
            </a:r>
            <a:endParaRPr lang="en-US" sz="1300" dirty="0"/>
          </a:p>
        </p:txBody>
      </p:sp>
      <p:pic>
        <p:nvPicPr>
          <p:cNvPr id="6" name="Image 0" descr="/mnt/user-data/outputs/aureon_breathing_f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874520"/>
            <a:ext cx="8686800" cy="4389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235440" y="1874520"/>
            <a:ext cx="2606040" cy="4389120"/>
          </a:xfrm>
          <a:prstGeom prst="rect">
            <a:avLst/>
          </a:prstGeom>
          <a:solidFill>
            <a:srgbClr val="152338"/>
          </a:solidFill>
          <a:ln w="6350">
            <a:solidFill>
              <a:srgbClr val="C8A45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72600" y="2011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A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BREATH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372600" y="2331720"/>
            <a:ext cx="2331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8A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Period
</a:t>
            </a:r>
            <a:endParaRPr lang="en-US" sz="1000" dirty="0"/>
          </a:p>
          <a:p>
            <a:pPr indent="0" marL="0">
              <a:buNone/>
            </a:pPr>
            <a:r>
              <a:rPr lang="en-US" sz="2200" i="1" dirty="0">
                <a:solidFill>
                  <a:srgbClr val="E2C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~18 weeks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</a:rPr>
              <a:t>autocorrelation peak at lag 9, half-period
</a:t>
            </a:r>
            <a:endParaRPr lang="en-US" sz="1000" dirty="0"/>
          </a:p>
          <a:p>
            <a:pPr indent="0" marL="0">
              <a:buNone/>
            </a:pPr>
            <a:r>
              <a:rPr lang="en-US" sz="1000" spc="200" kern="0" dirty="0">
                <a:solidFill>
                  <a:srgbClr val="C8A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
</a:t>
            </a:r>
            <a:endParaRPr lang="en-US" sz="1000" dirty="0"/>
          </a:p>
          <a:p>
            <a:pPr indent="0" marL="0">
              <a:buNone/>
            </a:pPr>
            <a:r>
              <a:rPr lang="en-US" sz="2200" i="1" dirty="0">
                <a:solidFill>
                  <a:srgbClr val="E2C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+14 days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</a:rPr>
              <a:t>wobble at t leads market stress at t+14d
r = +0.31, p = 0.024
</a:t>
            </a:r>
            <a:endParaRPr lang="en-US" sz="1000" dirty="0"/>
          </a:p>
          <a:p>
            <a:pPr indent="0" marL="0">
              <a:buNone/>
            </a:pPr>
            <a:r>
              <a:rPr lang="en-US" sz="1000" spc="200" kern="0" dirty="0">
                <a:solidFill>
                  <a:srgbClr val="C8A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static r was negative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</a:rPr>
              <a:t>Breath averages out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</a:rPr>
              <a:t>across phase. Detrend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</a:rPr>
              <a:t>first, then test.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Aureon Institute  ·  R&amp;A Consulting and Brokerage Services Ltd  ·  Belfast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972800" y="65379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A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73152" cy="365760"/>
          </a:xfrm>
          <a:prstGeom prst="rect">
            <a:avLst/>
          </a:prstGeom>
          <a:solidFill>
            <a:srgbClr val="C8A4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A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 GLOBAL FINANCIAL ENERGY — 21-CHANNEL WAVEFORM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dominant shared stress mode across global markets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2C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PC1 captures 44.6% of joint variance across 21 independent channels in 2025</a:t>
            </a:r>
            <a:endParaRPr lang="en-US" sz="1300" dirty="0"/>
          </a:p>
        </p:txBody>
      </p:sp>
      <p:pic>
        <p:nvPicPr>
          <p:cNvPr id="6" name="Image 0" descr="/mnt/user-data/outputs/aureon_global_energy_wave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874520"/>
            <a:ext cx="8229600" cy="4389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778240" y="1874520"/>
            <a:ext cx="3017520" cy="4389120"/>
          </a:xfrm>
          <a:prstGeom prst="rect">
            <a:avLst/>
          </a:prstGeom>
          <a:solidFill>
            <a:srgbClr val="152338"/>
          </a:solidFill>
          <a:ln w="6350">
            <a:solidFill>
              <a:srgbClr val="C8A45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1540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A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CHANNELS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915400" y="2331720"/>
            <a:ext cx="2743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C8A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Equities</a:t>
            </a:r>
            <a:endParaRPr lang="en-US" sz="950" dirty="0"/>
          </a:p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</a:rPr>
              <a:t>SPX, QQQ, XLF, IWM
</a:t>
            </a:r>
            <a:endParaRPr lang="en-US" sz="950" dirty="0"/>
          </a:p>
          <a:p>
            <a:pPr indent="0" marL="0">
              <a:buNone/>
            </a:pPr>
            <a:r>
              <a:rPr lang="en-US" sz="950" spc="100" kern="0" dirty="0">
                <a:solidFill>
                  <a:srgbClr val="C8A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Volatility &amp; credit</a:t>
            </a:r>
            <a:endParaRPr lang="en-US" sz="950" dirty="0"/>
          </a:p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</a:rPr>
              <a:t>VIX, HYG
</a:t>
            </a:r>
            <a:endParaRPr lang="en-US" sz="950" dirty="0"/>
          </a:p>
          <a:p>
            <a:pPr indent="0" marL="0">
              <a:buNone/>
            </a:pPr>
            <a:r>
              <a:rPr lang="en-US" sz="950" spc="100" kern="0" dirty="0">
                <a:solidFill>
                  <a:srgbClr val="C8A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Rates</a:t>
            </a:r>
            <a:endParaRPr lang="en-US" sz="950" dirty="0"/>
          </a:p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</a:rPr>
              <a:t>10Y, 30Y, TLT
</a:t>
            </a:r>
            <a:endParaRPr lang="en-US" sz="950" dirty="0"/>
          </a:p>
          <a:p>
            <a:pPr indent="0" marL="0">
              <a:buNone/>
            </a:pPr>
            <a:r>
              <a:rPr lang="en-US" sz="950" spc="100" kern="0" dirty="0">
                <a:solidFill>
                  <a:srgbClr val="C8A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FX</a:t>
            </a:r>
            <a:endParaRPr lang="en-US" sz="950" dirty="0"/>
          </a:p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</a:rPr>
              <a:t>DXY, EURUSD, JPY
</a:t>
            </a:r>
            <a:endParaRPr lang="en-US" sz="950" dirty="0"/>
          </a:p>
          <a:p>
            <a:pPr indent="0" marL="0">
              <a:buNone/>
            </a:pPr>
            <a:r>
              <a:rPr lang="en-US" sz="950" spc="100" kern="0" dirty="0">
                <a:solidFill>
                  <a:srgbClr val="C8A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Crypto</a:t>
            </a:r>
            <a:endParaRPr lang="en-US" sz="950" dirty="0"/>
          </a:p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</a:rPr>
              <a:t>BTC, ETH
</a:t>
            </a:r>
            <a:endParaRPr lang="en-US" sz="950" dirty="0"/>
          </a:p>
          <a:p>
            <a:pPr indent="0" marL="0">
              <a:buNone/>
            </a:pPr>
            <a:r>
              <a:rPr lang="en-US" sz="950" spc="100" kern="0" dirty="0">
                <a:solidFill>
                  <a:srgbClr val="C8A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Energy</a:t>
            </a:r>
            <a:endParaRPr lang="en-US" sz="950" dirty="0"/>
          </a:p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</a:rPr>
              <a:t>Brent, WTI, USO, NG
</a:t>
            </a:r>
            <a:endParaRPr lang="en-US" sz="950" dirty="0"/>
          </a:p>
          <a:p>
            <a:pPr indent="0" marL="0">
              <a:buNone/>
            </a:pPr>
            <a:r>
              <a:rPr lang="en-US" sz="950" spc="100" kern="0" dirty="0">
                <a:solidFill>
                  <a:srgbClr val="C8A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Metals</a:t>
            </a:r>
            <a:endParaRPr lang="en-US" sz="950" dirty="0"/>
          </a:p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</a:rPr>
              <a:t>Gold, Silver, GDX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Aureon Institute  ·  R&amp;A Consulting and Brokerage Services Ltd  ·  Belfast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972800" y="65379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A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73152" cy="365760"/>
          </a:xfrm>
          <a:prstGeom prst="rect">
            <a:avLst/>
          </a:prstGeom>
          <a:solidFill>
            <a:srgbClr val="C8A4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A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MASTER FORMULA STABILITY CLIFF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 &gt; 1.1  ·  the instability cliff is real and sharp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2C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by direct simulation in the v2 repository audit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194560"/>
            <a:ext cx="11430000" cy="1097280"/>
          </a:xfrm>
          <a:prstGeom prst="rect">
            <a:avLst/>
          </a:prstGeom>
          <a:solidFill>
            <a:srgbClr val="152338"/>
          </a:solidFill>
          <a:ln w="12700">
            <a:solidFill>
              <a:srgbClr val="4A9E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468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 = 0.85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926080" y="24688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E2C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max|Λ|  ≈  6.5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869680" y="2468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400" kern="0" dirty="0">
                <a:solidFill>
                  <a:srgbClr val="4A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BOUNDED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474720"/>
            <a:ext cx="11430000" cy="1097280"/>
          </a:xfrm>
          <a:prstGeom prst="rect">
            <a:avLst/>
          </a:prstGeom>
          <a:solidFill>
            <a:srgbClr val="152338"/>
          </a:solidFill>
          <a:ln w="12700">
            <a:solidFill>
              <a:srgbClr val="C8A4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749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 = 1.10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926080" y="37490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E2C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max|Λ|  ≈  82,507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869680" y="3749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400" kern="0" dirty="0">
                <a:solidFill>
                  <a:srgbClr val="C8A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CLIFF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4754880"/>
            <a:ext cx="11430000" cy="1097280"/>
          </a:xfrm>
          <a:prstGeom prst="rect">
            <a:avLst/>
          </a:prstGeom>
          <a:solidFill>
            <a:srgbClr val="15233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5029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 = 1.50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926080" y="502920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E2C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max|Λ|  ≈  1.9 × 10¹⁷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869680" y="5029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400" kern="0" dirty="0">
                <a:solidFill>
                  <a:srgbClr val="E07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DIVERGENT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612648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Four-order-of-magnitude jump in field amplitude over a 0.25-unit β shift.   Cliff lands almost exactly where the framework predicts.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Aureon Institute  ·  R&amp;A Consulting and Brokerage Services Ltd  ·  Belfast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0" y="65379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A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73152" cy="365760"/>
          </a:xfrm>
          <a:prstGeom prst="rect">
            <a:avLst/>
          </a:prstGeom>
          <a:solidFill>
            <a:srgbClr val="C8A4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A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3I/ATLAS  ·  WOW! SIGNAL ALIGNMENT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Interstellar comet entered 7.435° from the 1977 Wow! Signal coordinates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2C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Random-alignment probability  P  =  0.418%  (verified against NASA JPL Horizons)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194560"/>
            <a:ext cx="3657600" cy="2743200"/>
          </a:xfrm>
          <a:prstGeom prst="rect">
            <a:avLst/>
          </a:prstGeom>
          <a:solidFill>
            <a:srgbClr val="152338"/>
          </a:solidFill>
          <a:ln w="7620">
            <a:solidFill>
              <a:srgbClr val="C8A4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37744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i="1" dirty="0">
                <a:solidFill>
                  <a:srgbClr val="E2C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7.435°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548640" y="37033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minimum angular separation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114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22 December 2023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06240" y="2194560"/>
            <a:ext cx="3657600" cy="2743200"/>
          </a:xfrm>
          <a:prstGeom prst="rect">
            <a:avLst/>
          </a:prstGeom>
          <a:solidFill>
            <a:srgbClr val="152338"/>
          </a:solidFill>
          <a:ln w="7620">
            <a:solidFill>
              <a:srgbClr val="C8A4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237744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i="1" dirty="0">
                <a:solidFill>
                  <a:srgbClr val="E2C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0.418%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4389120" y="37033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spherical-cap probability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89120" y="4114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closer than published 0.56%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2194560"/>
            <a:ext cx="3657600" cy="2743200"/>
          </a:xfrm>
          <a:prstGeom prst="rect">
            <a:avLst/>
          </a:prstGeom>
          <a:solidFill>
            <a:srgbClr val="152338"/>
          </a:solidFill>
          <a:ln w="7620">
            <a:solidFill>
              <a:srgbClr val="C8A4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237744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i="1" dirty="0">
                <a:solidFill>
                  <a:srgbClr val="E2C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 yr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8229600" y="37033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dormancy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0" y="4114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1977 → 2026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521208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Ehman 1998 Wow! coordinates: α = 19h22m24.64s, δ = -27°03′05″   (positive horn)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548640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3I/ATLAS orbital elements: e = 6.141351 (hyperbolic, interstellar), q = 1.356 AU, i = 175.116°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Aureon Institute  ·  R&amp;A Consulting and Brokerage Services Ltd  ·  Belfast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00" y="65379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A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73152" cy="365760"/>
          </a:xfrm>
          <a:prstGeom prst="rect">
            <a:avLst/>
          </a:prstGeom>
          <a:solidFill>
            <a:srgbClr val="C8A4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A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REPRODUCIBILITY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claim verifiable from public data alone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2C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proprietary feeds.  No special access.  Open source code, primary sources.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194560"/>
            <a:ext cx="11430000" cy="3931920"/>
          </a:xfrm>
          <a:prstGeom prst="rect">
            <a:avLst/>
          </a:prstGeom>
          <a:solidFill>
            <a:srgbClr val="030712"/>
          </a:solidFill>
          <a:ln w="6350">
            <a:solidFill>
              <a:srgbClr val="C8A4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3317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A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 ANCHOR I  ·  φ² coherence bridge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python3 -c "</a:t>
            </a:r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math; phi_sq = ((1+math.sqrt(5))/2)**2;
</a:t>
            </a:r>
            <a:pPr indent="0" marL="0">
              <a:buNone/>
            </a:pPr>
            <a:r>
              <a:rPr lang="en-US" sz="1200" dirty="0">
                <a:solidFill>
                  <a:srgbClr val="E2C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 = 528.422 * 1_026_730 * phi_sq;
</a:t>
            </a:r>
            <a:pPr indent="0" marL="0">
              <a:buNone/>
            </a:pPr>
            <a:r>
              <a:rPr lang="en-US" sz="1200" dirty="0">
                <a:solidFill>
                  <a:srgbClr val="E2C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nist = 1_420_405_751.7667;
</a:t>
            </a:r>
            <a:pPr indent="0" marL="0">
              <a:buNone/>
            </a:pPr>
            <a:r>
              <a:rPr lang="en-US" sz="1200" dirty="0">
                <a:solidFill>
                  <a:srgbClr val="E2C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print(f\"Δ = {(pred-nist)/nist*1e9:+.3f} ppb\")"
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4A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Δ = +1.292 ppb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931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A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 ANCHOR III  ·  Multi-channel waveform replication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4206240"/>
            <a:ext cx="10972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https://github.com/RA-CONSULTING/aureon-trading
</a:t>
            </a:r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aureon-trading
</a:t>
            </a:r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yfinance pandas scipy matplotlib
</a:t>
            </a:r>
            <a:pPr indent="0" marL="0">
              <a:buNone/>
            </a:pPr>
            <a:r>
              <a:rPr lang="en-US" sz="1200" dirty="0">
                <a:solidFill>
                  <a:srgbClr val="E2C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docs/research/replicate_waveform.py 2025
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4A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Outputs:  PC1 explains 44.6% of joint variance across 21 channels
</a:t>
            </a:r>
            <a:pPr indent="0" marL="0">
              <a:buNone/>
            </a:pPr>
            <a:r>
              <a:rPr lang="en-US" sz="1200" i="1" dirty="0">
                <a:solidFill>
                  <a:srgbClr val="4A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  Λ wobble vs PC1 (lag +14d)  →  r = +0.310, p = 0.024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Aureon Institute  ·  R&amp;A Consulting and Brokerage Services Ltd  ·  Belfast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0" y="65379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A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73152" cy="365760"/>
          </a:xfrm>
          <a:prstGeom prst="rect">
            <a:avLst/>
          </a:prstGeom>
          <a:solidFill>
            <a:srgbClr val="C8A4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A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 OPEN ITEMS AND WHAT DID NOT REPLICATE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are willing to revise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2C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 results reported at equal weight to positive results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194560"/>
            <a:ext cx="11430000" cy="868680"/>
          </a:xfrm>
          <a:prstGeom prst="rect">
            <a:avLst/>
          </a:prstGeom>
          <a:solidFill>
            <a:srgbClr val="152338"/>
          </a:solidFill>
          <a:ln w="5080">
            <a:solidFill>
              <a:srgbClr val="C8A4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194560"/>
            <a:ext cx="640080" cy="868680"/>
          </a:xfrm>
          <a:prstGeom prst="rect">
            <a:avLst/>
          </a:prstGeom>
          <a:solidFill>
            <a:srgbClr val="C8A45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19456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22860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Oil → clones r = 0.85 on 8–20 Mar 2026 window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6060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Iran-Hormuz window unrecoverable (GitHub Insights 14-day cap).  Post-crisis replication on the 21 Mar–3 Apr window: r = +0.10 same-day, r = +0.70 with 24h lag.  Strength contested.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3154680"/>
            <a:ext cx="11430000" cy="868680"/>
          </a:xfrm>
          <a:prstGeom prst="rect">
            <a:avLst/>
          </a:prstGeom>
          <a:solidFill>
            <a:srgbClr val="152338"/>
          </a:solidFill>
          <a:ln w="5080">
            <a:solidFill>
              <a:srgbClr val="C8A4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3154680"/>
            <a:ext cx="640080" cy="868680"/>
          </a:xfrm>
          <a:prstGeom prst="rect">
            <a:avLst/>
          </a:prstGeom>
          <a:solidFill>
            <a:srgbClr val="C8A45A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315468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C9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32461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φ-clustering at 7.5–9.9× expected density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35661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replicate against NASA/JPL Small-Body DB across 4,059 comets and 50,000 asteroids.  Density at φ⁻¹ and φ⁻² was 0.01× to 0.56× of uniform expectation.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4114800"/>
            <a:ext cx="11430000" cy="868680"/>
          </a:xfrm>
          <a:prstGeom prst="rect">
            <a:avLst/>
          </a:prstGeom>
          <a:solidFill>
            <a:srgbClr val="152338"/>
          </a:solidFill>
          <a:ln w="5080">
            <a:solidFill>
              <a:srgbClr val="C8A4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4114800"/>
            <a:ext cx="640080" cy="868680"/>
          </a:xfrm>
          <a:prstGeom prst="rect">
            <a:avLst/>
          </a:prstGeom>
          <a:solidFill>
            <a:srgbClr val="C8A45A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411480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42062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Wow! 4I velocity prediction φ³ × 26.33 km/s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value is 114.9 km/s; actual arithmetic produces 111.5 km/s.  3% gap unresolved.  Erratum required before further citation.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5074920"/>
            <a:ext cx="11430000" cy="868680"/>
          </a:xfrm>
          <a:prstGeom prst="rect">
            <a:avLst/>
          </a:prstGeom>
          <a:solidFill>
            <a:srgbClr val="152338"/>
          </a:solidFill>
          <a:ln w="5080">
            <a:solidFill>
              <a:srgbClr val="C8A4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5074920"/>
            <a:ext cx="640080" cy="868680"/>
          </a:xfrm>
          <a:prstGeom prst="rect">
            <a:avLst/>
          </a:prstGeom>
          <a:solidFill>
            <a:srgbClr val="C8A45A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507492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AQTS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88720" y="516636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90,800,000% Monte Carlo CAGR figure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88720" y="54864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Internally consistent under stated parameters but mislabelled as a return figure.  Should be retired or properly contextualised as a sensitivity result.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626364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framework that names its negative results gains credibility, not loses it.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Aureon Institute  ·  R&amp;A Consulting and Brokerage Services Ltd  ·  Belfast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72800" y="65379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A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73152" cy="365760"/>
          </a:xfrm>
          <a:prstGeom prst="rect">
            <a:avLst/>
          </a:prstGeom>
          <a:solidFill>
            <a:srgbClr val="C8A4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A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 COMPLETE FINDINGS LEDGER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result, with its epistemic status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11430000" cy="365760"/>
          </a:xfrm>
          <a:prstGeom prst="rect">
            <a:avLst/>
          </a:prstGeom>
          <a:solidFill>
            <a:srgbClr val="152338"/>
          </a:solidFill>
          <a:ln w="6350">
            <a:solidFill>
              <a:srgbClr val="C8A4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916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8A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80160" y="16916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8A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052560" y="1691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C8A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423160"/>
            <a:ext cx="11430000" cy="0"/>
          </a:xfrm>
          <a:prstGeom prst="line">
            <a:avLst/>
          </a:prstGeom>
          <a:noFill/>
          <a:ln w="2540">
            <a:solidFill>
              <a:srgbClr val="C8A45A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574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C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80160" y="2057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φ² → 21cm hydrogen line (1.292 ppb)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052560" y="2057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4A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788920"/>
            <a:ext cx="11430000" cy="0"/>
          </a:xfrm>
          <a:prstGeom prst="line">
            <a:avLst/>
          </a:prstGeom>
          <a:noFill/>
          <a:ln w="2540">
            <a:solidFill>
              <a:srgbClr val="C8A45A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4231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C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F26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80160" y="24231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2026 ledger: 5/5 confirmations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052560" y="2423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4A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154680"/>
            <a:ext cx="11430000" cy="0"/>
          </a:xfrm>
          <a:prstGeom prst="line">
            <a:avLst/>
          </a:prstGeom>
          <a:noFill/>
          <a:ln w="2540">
            <a:solidFill>
              <a:srgbClr val="C8A45A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7889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C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B25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80160" y="27889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backtest: 55-snapshot cross-validation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052560" y="2788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4A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520440"/>
            <a:ext cx="11430000" cy="0"/>
          </a:xfrm>
          <a:prstGeom prst="line">
            <a:avLst/>
          </a:prstGeom>
          <a:noFill/>
          <a:ln w="2540">
            <a:solidFill>
              <a:srgbClr val="C8A45A">
                <a:alpha val="3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1546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C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WV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80160" y="3154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wobble lead +14d, r=+0.31 p=0.024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052560" y="3154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4A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886200"/>
            <a:ext cx="11430000" cy="0"/>
          </a:xfrm>
          <a:prstGeom prst="line">
            <a:avLst/>
          </a:prstGeom>
          <a:noFill/>
          <a:ln w="2540">
            <a:solidFill>
              <a:srgbClr val="C8A45A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5204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C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280160" y="3520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21-channel unified PC1 = 44.6% variance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052560" y="3520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4A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251960"/>
            <a:ext cx="11430000" cy="0"/>
          </a:xfrm>
          <a:prstGeom prst="line">
            <a:avLst/>
          </a:prstGeom>
          <a:noFill/>
          <a:ln w="2540">
            <a:solidFill>
              <a:srgbClr val="C8A45A">
                <a:alpha val="3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886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C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C8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280160" y="38862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3I/ATLAS angular separation 7.435°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052560" y="3886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5C9E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 AUDIT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4617720"/>
            <a:ext cx="11430000" cy="0"/>
          </a:xfrm>
          <a:prstGeom prst="line">
            <a:avLst/>
          </a:prstGeom>
          <a:noFill/>
          <a:ln w="2540">
            <a:solidFill>
              <a:srgbClr val="C8A45A">
                <a:alpha val="3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2519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C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280160" y="4251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cliff at β &gt; 1.1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052560" y="4251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5C9E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 AUDIT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4983480"/>
            <a:ext cx="11430000" cy="0"/>
          </a:xfrm>
          <a:prstGeom prst="line">
            <a:avLst/>
          </a:prstGeom>
          <a:noFill/>
          <a:ln w="2540">
            <a:solidFill>
              <a:srgbClr val="C8A45A">
                <a:alpha val="3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46177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C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280160" y="4617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decline -21.28% during 2026 crisis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052560" y="4617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5C9E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 AUDIT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5349240"/>
            <a:ext cx="11430000" cy="0"/>
          </a:xfrm>
          <a:prstGeom prst="line">
            <a:avLst/>
          </a:prstGeom>
          <a:noFill/>
          <a:ln w="2540">
            <a:solidFill>
              <a:srgbClr val="C8A45A">
                <a:alpha val="3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4983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C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C10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280160" y="4983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49-year Wow!→HNC dormancy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052560" y="4983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5C9E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ARITHMETIC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5760" y="5715000"/>
            <a:ext cx="11430000" cy="0"/>
          </a:xfrm>
          <a:prstGeom prst="line">
            <a:avLst/>
          </a:prstGeom>
          <a:noFill/>
          <a:ln w="2540">
            <a:solidFill>
              <a:srgbClr val="C8A45A">
                <a:alpha val="3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53492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C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280160" y="5349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Oil→clones r=0.85 (original window)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052560" y="5349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8A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UNVERIFIABLE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65760" y="6080760"/>
            <a:ext cx="11430000" cy="0"/>
          </a:xfrm>
          <a:prstGeom prst="line">
            <a:avLst/>
          </a:prstGeom>
          <a:noFill/>
          <a:ln w="2540">
            <a:solidFill>
              <a:srgbClr val="C8A45A">
                <a:alpha val="3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" y="57150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C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C9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280160" y="5715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φ-clustering 7.5-9.9× density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9052560" y="5715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E07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REPLICATED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65760" y="6446520"/>
            <a:ext cx="11430000" cy="0"/>
          </a:xfrm>
          <a:prstGeom prst="line">
            <a:avLst/>
          </a:prstGeom>
          <a:noFill/>
          <a:ln w="2540">
            <a:solidFill>
              <a:srgbClr val="C8A45A">
                <a:alpha val="3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2920" y="60807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C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P3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280160" y="60807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φ³ velocity arithmetic gap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9052560" y="6080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E07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365760" y="626364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8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legend:  VERIFIED = computed in this session.  V2 AUDIT = verified in repository v2 audit.  UNVERIFIABLE = data lost.  NOT REPLICATED / OPEN = revisable.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Aureon Institute  ·  R&amp;A Consulting and Brokerage Services Ltd  ·  Belfast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0972800" y="65379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A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73152" cy="365760"/>
          </a:xfrm>
          <a:prstGeom prst="rect">
            <a:avLst/>
          </a:prstGeom>
          <a:solidFill>
            <a:srgbClr val="C8A4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A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 SUPPORTING CORPUS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sits behind these findings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2C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Open-access research, reproducible code, primary-source data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194560"/>
            <a:ext cx="5577840" cy="1188720"/>
          </a:xfrm>
          <a:prstGeom prst="rect">
            <a:avLst/>
          </a:prstGeom>
          <a:solidFill>
            <a:srgbClr val="152338"/>
          </a:solidFill>
          <a:ln w="6350">
            <a:solidFill>
              <a:srgbClr val="C8A4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3317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E2C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017520" y="2423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papers + 2 talks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1752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Academia.edu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2194560"/>
            <a:ext cx="5577840" cy="1188720"/>
          </a:xfrm>
          <a:prstGeom prst="rect">
            <a:avLst/>
          </a:prstGeom>
          <a:solidFill>
            <a:srgbClr val="152338"/>
          </a:solidFill>
          <a:ln w="6350">
            <a:solidFill>
              <a:srgbClr val="C8A4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23317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E2C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869680" y="2423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flagship preprints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86968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ResearchGate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611880"/>
            <a:ext cx="5577840" cy="1188720"/>
          </a:xfrm>
          <a:prstGeom prst="rect">
            <a:avLst/>
          </a:prstGeom>
          <a:solidFill>
            <a:srgbClr val="152338"/>
          </a:solidFill>
          <a:ln w="6350">
            <a:solidFill>
              <a:srgbClr val="C8A4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749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E2C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2,172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3017520" y="3840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017520" y="4251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github.com/RA-CONSULTING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3611880"/>
            <a:ext cx="5577840" cy="1188720"/>
          </a:xfrm>
          <a:prstGeom prst="rect">
            <a:avLst/>
          </a:prstGeom>
          <a:solidFill>
            <a:srgbClr val="152338"/>
          </a:solidFill>
          <a:ln w="6350">
            <a:solidFill>
              <a:srgbClr val="C8A4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3749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E2C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 yr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8869680" y="3840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NOAA geomagnetic data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869680" y="4251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data/Kp_ap_Ap_SN_F107_since_1932.txt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51663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A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SELECTED PUBLICATIONS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5440680"/>
            <a:ext cx="11430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Tandem in Unity: Unifying Resonant Fields in Physics, AI and Consciousness </a:t>
            </a:r>
            <a:pPr indent="0" marL="0">
              <a:buNone/>
            </a:pPr>
            <a:r>
              <a:rPr lang="en-US" sz="1100" dirty="0">
                <a:solidFill>
                  <a:srgbClr val="B8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(2025, with B. R. Antonson · M. Kolesnikov · M. Kindermann)
</a:t>
            </a:r>
            <a:pPr indent="0" marL="0">
              <a:buNone/>
            </a:pPr>
            <a:r>
              <a:rPr lang="en-US" sz="1100" i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Harmonic Nexus Core and the Aureon Trading Framework </a:t>
            </a:r>
            <a:pPr indent="0" marL="0">
              <a:buNone/>
            </a:pPr>
            <a:r>
              <a:rPr lang="en-US" sz="1100" dirty="0">
                <a:solidFill>
                  <a:srgbClr val="B8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ResearchGate 400536498
</a:t>
            </a:r>
            <a:pPr indent="0" marL="0">
              <a:buNone/>
            </a:pPr>
            <a:r>
              <a:rPr lang="en-US" sz="1100" i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HNC and Auris Conjecture </a:t>
            </a:r>
            <a:pPr indent="0" marL="0">
              <a:buNone/>
            </a:pPr>
            <a:r>
              <a:rPr lang="en-US" sz="1100" dirty="0">
                <a:solidFill>
                  <a:srgbClr val="B8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ResearchGate 397352612    ·    </a:t>
            </a:r>
            <a:pPr indent="0" marL="0">
              <a:buNone/>
            </a:pPr>
            <a:r>
              <a:rPr lang="en-US" sz="1100" i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Gravity in the Act (QGITA) </a:t>
            </a:r>
            <a:pPr indent="0" marL="0">
              <a:buNone/>
            </a:pPr>
            <a:r>
              <a:rPr lang="en-US" sz="1100" dirty="0">
                <a:solidFill>
                  <a:srgbClr val="B8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RG 397355255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Aureon Institute  ·  R&amp;A Consulting and Brokerage Services Ltd  ·  Belfast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72800" y="65379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A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73152" cy="365760"/>
          </a:xfrm>
          <a:prstGeom prst="rect">
            <a:avLst/>
          </a:prstGeom>
          <a:solidFill>
            <a:srgbClr val="C8A4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A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 FORWARD PROTOCOL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multi-window record in public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2C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Pre-register before events, regenerate the chart afterwards, log the result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194560"/>
            <a:ext cx="11430000" cy="868680"/>
          </a:xfrm>
          <a:prstGeom prst="rect">
            <a:avLst/>
          </a:prstGeom>
          <a:solidFill>
            <a:srgbClr val="152338"/>
          </a:solidFill>
          <a:ln w="5080">
            <a:solidFill>
              <a:srgbClr val="C8A4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28600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E2C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737360" y="22860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Pre-register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40680" y="2286000"/>
            <a:ext cx="6355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prediction file to repo with date and falsifiable threshold.  Git timestamp = unforgeable proof of registration.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154680"/>
            <a:ext cx="11430000" cy="868680"/>
          </a:xfrm>
          <a:prstGeom prst="rect">
            <a:avLst/>
          </a:prstGeom>
          <a:solidFill>
            <a:srgbClr val="152338"/>
          </a:solidFill>
          <a:ln w="5080">
            <a:solidFill>
              <a:srgbClr val="C8A4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24612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E2C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737360" y="32461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waveform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40680" y="3246120"/>
            <a:ext cx="6355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21-channel PC1 + Λ wobble extraction + Lighthouse 5-metric consensus regenerated weekly from public sources.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4114800"/>
            <a:ext cx="11430000" cy="868680"/>
          </a:xfrm>
          <a:prstGeom prst="rect">
            <a:avLst/>
          </a:prstGeom>
          <a:solidFill>
            <a:srgbClr val="152338"/>
          </a:solidFill>
          <a:ln w="5080">
            <a:solidFill>
              <a:srgbClr val="C8A4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2062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E2C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737360" y="42062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40680" y="4206240"/>
            <a:ext cx="6355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closes.  Markers locate themselves on the waveform automatically.  No editorial control over outcome.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5074920"/>
            <a:ext cx="11430000" cy="868680"/>
          </a:xfrm>
          <a:prstGeom prst="rect">
            <a:avLst/>
          </a:prstGeom>
          <a:solidFill>
            <a:srgbClr val="152338"/>
          </a:solidFill>
          <a:ln w="5080">
            <a:solidFill>
              <a:srgbClr val="C8A4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1663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E2C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1737360" y="51663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&amp; log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40680" y="5166360"/>
            <a:ext cx="6355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Post-event audit committed back to repo.  Pass or fail recorded with equal weight.  Six months → multi-window track record.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61264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protocol replaces narrative with reproducible record.  Every claim becomes a public commitment, every result becomes a public audit.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Aureon Institute  ·  R&amp;A Consulting and Brokerage Services Ltd  ·  Belfast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72800" y="65379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A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23560" y="1280160"/>
            <a:ext cx="914400" cy="914400"/>
          </a:xfrm>
          <a:prstGeom prst="rect">
            <a:avLst/>
          </a:prstGeom>
          <a:solidFill>
            <a:srgbClr val="152338"/>
          </a:solidFill>
          <a:ln w="12700">
            <a:solidFill>
              <a:srgbClr val="C8A4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23560" y="1280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i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λ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11247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framework predicted before the events.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i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public record confirmed afterwards.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0" y="4023360"/>
            <a:ext cx="1188720" cy="0"/>
          </a:xfrm>
          <a:prstGeom prst="line">
            <a:avLst/>
          </a:prstGeom>
          <a:noFill/>
          <a:ln w="12700">
            <a:solidFill>
              <a:srgbClr val="C8A4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2062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2C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is what is being shown here.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5212080"/>
            <a:ext cx="11247120" cy="1097280"/>
          </a:xfrm>
          <a:prstGeom prst="rect">
            <a:avLst/>
          </a:prstGeom>
          <a:solidFill>
            <a:srgbClr val="152338"/>
          </a:solidFill>
          <a:ln w="6350">
            <a:solidFill>
              <a:srgbClr val="C8A4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349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C8A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GARY LECKEY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56692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Aureon Institute  ·  R&amp;A Consulting and Brokerage Services Ltd  ·  Belfast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gaxlec@gmail.com    ·    independent.academia.edu/AureonInstitute    ·    github.com/RA-CONSULTING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HNC Empirical Audit — 2025/26 Findings</dc:title>
  <dc:subject>Research presentation for ResearchGate</dc:subject>
  <dc:creator>Gary Leckey, Aureon Institute</dc:creator>
  <cp:lastModifiedBy>Gary Leckey, Aureon Institute</cp:lastModifiedBy>
  <cp:revision>1</cp:revision>
  <dcterms:created xsi:type="dcterms:W3CDTF">2026-04-29T12:33:16Z</dcterms:created>
  <dcterms:modified xsi:type="dcterms:W3CDTF">2026-04-29T12:33:16Z</dcterms:modified>
</cp:coreProperties>
</file>